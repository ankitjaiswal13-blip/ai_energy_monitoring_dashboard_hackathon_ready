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13232" y="-1234440"/>
            <a:ext cx="3840480" cy="3840480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" y="-832104"/>
            <a:ext cx="3035808" cy="3035808"/>
          </a:xfrm>
          <a:prstGeom prst="ellipse">
            <a:avLst/>
          </a:prstGeom>
          <a:solidFill>
            <a:srgbClr val="F8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66928"/>
            <a:ext cx="713232" cy="713232"/>
          </a:xfrm>
          <a:prstGeom prst="ellipse">
            <a:avLst/>
          </a:prstGeom>
          <a:solidFill>
            <a:srgbClr val="23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44200" y="5440680"/>
            <a:ext cx="310896" cy="310896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4434840"/>
            <a:ext cx="2148840" cy="2148840"/>
          </a:xfrm>
          <a:prstGeom prst="ellipse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444752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5B5F64"/>
                </a:solidFill>
                <a:latin typeface="Aptos"/>
              </a:defRPr>
            </a:pPr>
            <a:r>
              <a:t>AI-POWERED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783080"/>
            <a:ext cx="704088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500" b="1" i="0">
                <a:solidFill>
                  <a:srgbClr val="232528"/>
                </a:solidFill>
                <a:latin typeface="Aptos Display"/>
              </a:defRPr>
            </a:pPr>
            <a:r>
              <a:t>Energy Monitoring</a:t>
            </a:r>
            <a:br/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611880"/>
            <a:ext cx="61264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5B5F64"/>
                </a:solidFill>
                <a:latin typeface="Aptos"/>
              </a:defRPr>
            </a:pPr>
            <a:r>
              <a:t>A software-first MVP for understanding electricity use, estimating cost, and surfacing actionable insights.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4709160"/>
            <a:ext cx="1325880" cy="54864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4956048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232528"/>
                </a:solidFill>
                <a:latin typeface="Aptos"/>
              </a:defRPr>
            </a:pPr>
            <a:r>
              <a:t>PROJECT OVERVIEW  / 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5989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NO HARDWARE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109728" cy="219456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232528"/>
                </a:solidFill>
                <a:latin typeface="Aptos Display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27048"/>
            <a:ext cx="10863072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8136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9672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AI-POWERED ENERGY MONITORING  •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874519"/>
            <a:ext cx="393192" cy="393192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75104"/>
            <a:ext cx="39319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288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47088"/>
            <a:ext cx="6309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Why energy data needs clearer 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2304288"/>
            <a:ext cx="941832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660903"/>
            <a:ext cx="393192" cy="393192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61488"/>
            <a:ext cx="39319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15184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633472"/>
            <a:ext cx="6309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A single view of usage, cost, and insights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090672"/>
            <a:ext cx="941832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447287"/>
            <a:ext cx="393192" cy="393192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47872"/>
            <a:ext cx="39319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40156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Product &amp;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419856"/>
            <a:ext cx="6309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Core capabilities and system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3877056"/>
            <a:ext cx="941832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233672"/>
            <a:ext cx="393192" cy="393192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34256"/>
            <a:ext cx="39319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18795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Analytics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206240"/>
            <a:ext cx="6309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Forecasting, anomaly flags, and recommendations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4663440"/>
            <a:ext cx="941832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5020055"/>
            <a:ext cx="393192" cy="393192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120640"/>
            <a:ext cx="39319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974336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Validation &amp; 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992623"/>
            <a:ext cx="6309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Assumptions, demo flow, and next steps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5449823"/>
            <a:ext cx="941832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607040" y="2057400"/>
            <a:ext cx="548640" cy="3291840"/>
          </a:xfrm>
          <a:prstGeom prst="roundRect">
            <a:avLst>
              <a:gd name="adj" fmla="val 12000"/>
            </a:avLst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52760" y="3246120"/>
            <a:ext cx="457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5B5F64"/>
                </a:solidFill>
                <a:latin typeface="Aptos"/>
              </a:defRPr>
            </a:pPr>
            <a:r>
              <a:t>5</a:t>
            </a:r>
            <a:br/>
            <a:r>
              <a:t>SECTIONS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109728" cy="219456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01  /  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232528"/>
                </a:solidFill>
                <a:latin typeface="Aptos Display"/>
              </a:defRPr>
            </a:pPr>
            <a:r>
              <a:t>Energy data is available. Clarity is missing.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27048"/>
            <a:ext cx="10863072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8136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9672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AI-POWERED ENERGY MONITORING  •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64008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 i="0">
                <a:solidFill>
                  <a:srgbClr val="5B5F64"/>
                </a:solidFill>
                <a:latin typeface="Aptos"/>
              </a:defRPr>
            </a:pPr>
            <a:r>
              <a:t>Electricity bills summarize the month—but often leave users asking what changed, when usage peaked, and what to do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63240"/>
            <a:ext cx="340156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3310128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F5BE0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3822191"/>
            <a:ext cx="2880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Limited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4315968"/>
            <a:ext cx="285292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A total bill does not explain daily or hourly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3063240"/>
            <a:ext cx="340156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3310128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F5BE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822191"/>
            <a:ext cx="2880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Hidden peaks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315968"/>
            <a:ext cx="285292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High-consumption periods can be difficult to identify.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3063240"/>
            <a:ext cx="340156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310128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F5BE0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822191"/>
            <a:ext cx="2880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Unclear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315968"/>
            <a:ext cx="285292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Users need practical actions, not just charts.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96128"/>
            <a:ext cx="10835640" cy="438912"/>
          </a:xfrm>
          <a:prstGeom prst="roundRect">
            <a:avLst>
              <a:gd name="adj" fmla="val 12000"/>
            </a:avLst>
          </a:prstGeom>
          <a:solidFill>
            <a:srgbClr val="FFF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705856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232528"/>
                </a:solidFill>
                <a:latin typeface="Aptos"/>
              </a:defRPr>
            </a:pPr>
            <a:r>
              <a:t>Opportunity: turn raw readings into understandable, explainable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109728" cy="219456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02  /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232528"/>
                </a:solidFill>
                <a:latin typeface="Aptos Display"/>
              </a:defRPr>
            </a:pPr>
            <a:r>
              <a:t>One dashboard. Three useful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27048"/>
            <a:ext cx="10863072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8136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9672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AI-POWERED ENERGY MONITORING  •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764792"/>
            <a:ext cx="7772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5B5F64"/>
                </a:solidFill>
                <a:latin typeface="Aptos"/>
              </a:defRPr>
            </a:pPr>
            <a:r>
              <a:t>The MVP brings consumption, estimated cost, and lightweight analytics into one coherent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681228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6812280" cy="438912"/>
          </a:xfrm>
          <a:prstGeom prst="roundRect">
            <a:avLst>
              <a:gd name="adj" fmla="val 12000"/>
            </a:avLst>
          </a:prstGeom>
          <a:solidFill>
            <a:srgbClr val="23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43200"/>
            <a:ext cx="2560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ENERGY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33756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465576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 i="0">
                <a:solidFill>
                  <a:srgbClr val="5B5F64"/>
                </a:solidFill>
                <a:latin typeface="Aptos"/>
              </a:defRPr>
            </a:pPr>
            <a:r>
              <a:t>Usage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373075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232528"/>
                </a:solidFill>
                <a:latin typeface="Aptos"/>
              </a:defRPr>
            </a:pPr>
            <a:r>
              <a:t>12.4 kWh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33756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3465576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 i="0">
                <a:solidFill>
                  <a:srgbClr val="5B5F64"/>
                </a:solidFill>
                <a:latin typeface="Aptos"/>
              </a:defRPr>
            </a:pPr>
            <a:r>
              <a:t>Estimated bill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373075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232528"/>
                </a:solidFill>
                <a:latin typeface="Aptos"/>
              </a:defRPr>
            </a:pPr>
            <a:r>
              <a:t>₹2,180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333756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3465576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 i="0">
                <a:solidFill>
                  <a:srgbClr val="5B5F64"/>
                </a:solidFill>
                <a:latin typeface="Aptos"/>
              </a:defRPr>
            </a:pPr>
            <a:r>
              <a:t>Next 7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73075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232528"/>
                </a:solidFill>
                <a:latin typeface="Aptos"/>
              </a:defRPr>
            </a:pPr>
            <a:r>
              <a:t>Stable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800600"/>
            <a:ext cx="237744" cy="502920"/>
          </a:xfrm>
          <a:prstGeom prst="roundRect">
            <a:avLst>
              <a:gd name="adj" fmla="val 12000"/>
            </a:avLst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09928" y="4480559"/>
            <a:ext cx="237744" cy="822960"/>
          </a:xfrm>
          <a:prstGeom prst="roundRect">
            <a:avLst>
              <a:gd name="adj" fmla="val 12000"/>
            </a:avLst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85416" y="4663440"/>
            <a:ext cx="237744" cy="640080"/>
          </a:xfrm>
          <a:prstGeom prst="roundRect">
            <a:avLst>
              <a:gd name="adj" fmla="val 12000"/>
            </a:avLst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60904" y="4160520"/>
            <a:ext cx="237744" cy="1143000"/>
          </a:xfrm>
          <a:prstGeom prst="roundRect">
            <a:avLst>
              <a:gd name="adj" fmla="val 12000"/>
            </a:avLst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36392" y="4343400"/>
            <a:ext cx="237744" cy="960120"/>
          </a:xfrm>
          <a:prstGeom prst="roundRect">
            <a:avLst>
              <a:gd name="adj" fmla="val 12000"/>
            </a:avLst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11880" y="4590288"/>
            <a:ext cx="237744" cy="713232"/>
          </a:xfrm>
          <a:prstGeom prst="roundRect">
            <a:avLst>
              <a:gd name="adj" fmla="val 12000"/>
            </a:avLst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87368" y="3977639"/>
            <a:ext cx="237744" cy="1325880"/>
          </a:xfrm>
          <a:prstGeom prst="roundRect">
            <a:avLst>
              <a:gd name="adj" fmla="val 12000"/>
            </a:avLst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62856" y="4434840"/>
            <a:ext cx="237744" cy="868680"/>
          </a:xfrm>
          <a:prstGeom prst="roundRect">
            <a:avLst>
              <a:gd name="adj" fmla="val 12000"/>
            </a:avLst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38344" y="4251960"/>
            <a:ext cx="237744" cy="1051560"/>
          </a:xfrm>
          <a:prstGeom prst="roundRect">
            <a:avLst>
              <a:gd name="adj" fmla="val 12000"/>
            </a:avLst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13831" y="4736592"/>
            <a:ext cx="237744" cy="566928"/>
          </a:xfrm>
          <a:prstGeom prst="roundRect">
            <a:avLst>
              <a:gd name="adj" fmla="val 12000"/>
            </a:avLst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394960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DAILY CONSUMPTION</a:t>
            </a:r>
          </a:p>
        </p:txBody>
      </p:sp>
      <p:sp>
        <p:nvSpPr>
          <p:cNvPr id="33" name="Oval 32"/>
          <p:cNvSpPr/>
          <p:nvPr/>
        </p:nvSpPr>
        <p:spPr>
          <a:xfrm>
            <a:off x="8366760" y="2734056"/>
            <a:ext cx="384048" cy="38404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2843784"/>
            <a:ext cx="384048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697480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06324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See usage patterns and key metrics.</a:t>
            </a:r>
          </a:p>
        </p:txBody>
      </p:sp>
      <p:sp>
        <p:nvSpPr>
          <p:cNvPr id="37" name="Oval 36"/>
          <p:cNvSpPr/>
          <p:nvPr/>
        </p:nvSpPr>
        <p:spPr>
          <a:xfrm>
            <a:off x="8366760" y="3739896"/>
            <a:ext cx="384048" cy="38404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849624"/>
            <a:ext cx="384048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703320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Estimate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06908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Translate kWh into an indicative bill.</a:t>
            </a:r>
          </a:p>
        </p:txBody>
      </p:sp>
      <p:sp>
        <p:nvSpPr>
          <p:cNvPr id="41" name="Oval 40"/>
          <p:cNvSpPr/>
          <p:nvPr/>
        </p:nvSpPr>
        <p:spPr>
          <a:xfrm>
            <a:off x="8366760" y="4745736"/>
            <a:ext cx="384048" cy="38404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4855464"/>
            <a:ext cx="384048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709160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07492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Review forecasts, alerts, and suggestions.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109728" cy="219456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03  / 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232528"/>
                </a:solidFill>
                <a:latin typeface="Aptos Display"/>
              </a:defRPr>
            </a:pPr>
            <a:r>
              <a:t>Five capabilities in one connected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27048"/>
            <a:ext cx="10863072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8136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9672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AI-POWERED ENERGY MONITORING  •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154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109728" cy="164592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48256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F5BE0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423160"/>
            <a:ext cx="2606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32528"/>
                </a:solidFill>
                <a:latin typeface="Aptos"/>
              </a:defRPr>
            </a:pPr>
            <a:r>
              <a:t>Consumption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852928"/>
            <a:ext cx="2606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Daily and hourly usage 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828800"/>
            <a:ext cx="3154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828800"/>
            <a:ext cx="109728" cy="164592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048256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F5BE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423160"/>
            <a:ext cx="2606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32528"/>
                </a:solidFill>
                <a:latin typeface="Aptos"/>
              </a:defRPr>
            </a:pPr>
            <a:r>
              <a:t>Bill calculator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852928"/>
            <a:ext cx="2606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Estimate cost from kWh and rate.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28800"/>
            <a:ext cx="3154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28800"/>
            <a:ext cx="109728" cy="164592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2048256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F5BE0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423160"/>
            <a:ext cx="2606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32528"/>
                </a:solidFill>
                <a:latin typeface="Aptos"/>
              </a:defRPr>
            </a:pPr>
            <a:r>
              <a:t>7-day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852928"/>
            <a:ext cx="2606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A baseline projection of near-term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3977639"/>
            <a:ext cx="3154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3977639"/>
            <a:ext cx="109728" cy="164592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7791" y="4197096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F5BE0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1" y="4572000"/>
            <a:ext cx="2606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32528"/>
                </a:solidFill>
                <a:latin typeface="Aptos"/>
              </a:defRPr>
            </a:pPr>
            <a:r>
              <a:t>Anomaly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1" y="5001768"/>
            <a:ext cx="2606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Flag readings outside a statistical baseline.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77639"/>
            <a:ext cx="3154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977639"/>
            <a:ext cx="109728" cy="164592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4197096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F5BE0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4572000"/>
            <a:ext cx="2606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32528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001768"/>
            <a:ext cx="2606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Rule-based suggestions tied to usage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109728" cy="219456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03  / 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232528"/>
                </a:solidFill>
                <a:latin typeface="Aptos Display"/>
              </a:defRPr>
            </a:pPr>
            <a:r>
              <a:t>From simulated readings to useful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27048"/>
            <a:ext cx="10863072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8136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9672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AI-POWERED ENERGY MONITORING  •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69494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5B5F64"/>
                </a:solidFill>
                <a:latin typeface="Aptos"/>
              </a:defRPr>
            </a:pPr>
            <a:r>
              <a:t>A simple pipeline keeps the MVP easy to explain, test, and extend.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22402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944368"/>
            <a:ext cx="384048" cy="38404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54096"/>
            <a:ext cx="38404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13632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Synthetic meter readings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79" y="3474720"/>
            <a:ext cx="384048" cy="32004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83864" y="3401568"/>
            <a:ext cx="146304" cy="146304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2743200"/>
            <a:ext cx="22402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58768" y="2944368"/>
            <a:ext cx="384048" cy="38404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3054096"/>
            <a:ext cx="38404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54787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3913632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Clean and aggregate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474720"/>
            <a:ext cx="384048" cy="32004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18504" y="3401568"/>
            <a:ext cx="146304" cy="146304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0" y="2743200"/>
            <a:ext cx="22402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93408" y="2944368"/>
            <a:ext cx="384048" cy="38404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3054096"/>
            <a:ext cx="38404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354787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913632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Forecast + anomaly checks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3474720"/>
            <a:ext cx="384048" cy="32004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53144" y="3401568"/>
            <a:ext cx="146304" cy="146304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26880" y="2743200"/>
            <a:ext cx="22402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28048" y="2944368"/>
            <a:ext cx="384048" cy="38404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3054096"/>
            <a:ext cx="38404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23252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354787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3913632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Dashboard + recommendations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983480"/>
            <a:ext cx="10835640" cy="685800"/>
          </a:xfrm>
          <a:prstGeom prst="roundRect">
            <a:avLst>
              <a:gd name="adj" fmla="val 12000"/>
            </a:avLst>
          </a:prstGeom>
          <a:solidFill>
            <a:srgbClr val="23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02936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FastAPI 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515721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 i="0">
                <a:solidFill>
                  <a:srgbClr val="F5BE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5202936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JSON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15721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 i="0">
                <a:solidFill>
                  <a:srgbClr val="F5BE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5202936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React interface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15721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 i="0">
                <a:solidFill>
                  <a:srgbClr val="F5BE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5202936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Recharts visuals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109728" cy="219456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03  /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232528"/>
                </a:solidFill>
                <a:latin typeface="Aptos Display"/>
              </a:defRPr>
            </a:pPr>
            <a:r>
              <a:t>A lightweight stack built for a fast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27048"/>
            <a:ext cx="10863072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8136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9672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AI-POWERED ENERGY MONITORING  •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10512"/>
            <a:ext cx="1056132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1993392"/>
            <a:ext cx="1298448" cy="411480"/>
          </a:xfrm>
          <a:prstGeom prst="roundRect">
            <a:avLst>
              <a:gd name="adj" fmla="val 12000"/>
            </a:avLst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112264"/>
            <a:ext cx="120700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56816"/>
            <a:ext cx="4023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32528"/>
                </a:solidFill>
                <a:latin typeface="Aptos"/>
              </a:defRPr>
            </a:pPr>
            <a:r>
              <a:t>React · Vite · Recharts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93392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Interactive dashboard and data visualizations.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34640"/>
            <a:ext cx="1056132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017520"/>
            <a:ext cx="1298448" cy="411480"/>
          </a:xfrm>
          <a:prstGeom prst="roundRect">
            <a:avLst>
              <a:gd name="adj" fmla="val 12000"/>
            </a:avLst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136392"/>
            <a:ext cx="120700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980944"/>
            <a:ext cx="4023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32528"/>
                </a:solidFill>
                <a:latin typeface="Aptos"/>
              </a:defRPr>
            </a:pPr>
            <a:r>
              <a:t>Python · FastAPI ·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API endpoints for calculations and analytics.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58768"/>
            <a:ext cx="1056132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" y="4041648"/>
            <a:ext cx="1298448" cy="411480"/>
          </a:xfrm>
          <a:prstGeom prst="roundRect">
            <a:avLst>
              <a:gd name="adj" fmla="val 12000"/>
            </a:avLst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160520"/>
            <a:ext cx="120700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005072"/>
            <a:ext cx="4023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32528"/>
                </a:solidFill>
                <a:latin typeface="Aptos"/>
              </a:defRPr>
            </a:pPr>
            <a:r>
              <a:t>Pandas · NumPy · scikit-learn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41648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Data handling and baseline forecasting.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82896"/>
            <a:ext cx="1056132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7552" y="5065776"/>
            <a:ext cx="1298448" cy="411480"/>
          </a:xfrm>
          <a:prstGeom prst="roundRect">
            <a:avLst>
              <a:gd name="adj" fmla="val 12000"/>
            </a:avLst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5184648"/>
            <a:ext cx="120700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029200"/>
            <a:ext cx="4023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32528"/>
                </a:solidFill>
                <a:latin typeface="Aptos"/>
              </a:defRPr>
            </a:pPr>
            <a:r>
              <a:t>SQLite · real meter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065776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Persistence and future live-data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109728" cy="219456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04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232528"/>
                </a:solidFill>
                <a:latin typeface="Aptos Display"/>
              </a:defRPr>
            </a:pPr>
            <a:r>
              <a:t>Simple, explainable methods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27048"/>
            <a:ext cx="10863072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8136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9672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AI-POWERED ENERGY MONITORING  •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33375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157984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F5BE0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578608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3063240"/>
            <a:ext cx="2788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Linear regression on synthetic daily totals.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2416" y="3611880"/>
            <a:ext cx="1417320" cy="201168"/>
          </a:xfrm>
          <a:prstGeom prst="roundRect">
            <a:avLst>
              <a:gd name="adj" fmla="val 12000"/>
            </a:avLst>
          </a:prstGeom>
          <a:solidFill>
            <a:srgbClr val="FFF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39312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Baseline projection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920240"/>
            <a:ext cx="33375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45736" y="2157984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F5BE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2578608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3063240"/>
            <a:ext cx="2788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Statistical threshold against a usage baseline.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45736" y="3611880"/>
            <a:ext cx="1417320" cy="201168"/>
          </a:xfrm>
          <a:prstGeom prst="roundRect">
            <a:avLst>
              <a:gd name="adj" fmla="val 12000"/>
            </a:avLst>
          </a:prstGeom>
          <a:solidFill>
            <a:srgbClr val="FFF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639312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Outlier flag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920240"/>
            <a:ext cx="33375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6" y="2157984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F5BE0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2578608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232528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3063240"/>
            <a:ext cx="2788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5B5F64"/>
                </a:solidFill>
                <a:latin typeface="Aptos"/>
              </a:defRPr>
            </a:pPr>
            <a:r>
              <a:t>Rules linked to observed usage patterns.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49056" y="3611880"/>
            <a:ext cx="1417320" cy="201168"/>
          </a:xfrm>
          <a:prstGeom prst="roundRect">
            <a:avLst>
              <a:gd name="adj" fmla="val 12000"/>
            </a:avLst>
          </a:prstGeom>
          <a:solidFill>
            <a:srgbClr val="FFF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639312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Actionable guidance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343400"/>
            <a:ext cx="10561320" cy="1143000"/>
          </a:xfrm>
          <a:prstGeom prst="roundRect">
            <a:avLst>
              <a:gd name="adj" fmla="val 12000"/>
            </a:avLst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590288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EVALUATION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919472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232528"/>
                </a:solidFill>
                <a:latin typeface="Aptos"/>
              </a:defRPr>
            </a:pPr>
            <a:r>
              <a:t>Measure forecast quality with MAE, RMSE, and R² once representative data is available.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85232"/>
            <a:ext cx="9784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 i="1">
                <a:solidFill>
                  <a:srgbClr val="5B5F64"/>
                </a:solidFill>
                <a:latin typeface="Aptos"/>
              </a:defRPr>
            </a:pPr>
            <a:r>
              <a:t>Current results are prototype outputs—not validated real-world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109728" cy="219456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05  / 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232528"/>
                </a:solidFill>
                <a:latin typeface="Aptos Display"/>
              </a:defRPr>
            </a:pPr>
            <a:r>
              <a:t>A clear, four-step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27048"/>
            <a:ext cx="10863072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8136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9672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AI-POWERED ENERGY MONITORING  •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856231"/>
            <a:ext cx="475488" cy="47548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47548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23252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28800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Explore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47088"/>
            <a:ext cx="6126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Show daily and hourly consumption patterns.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395728"/>
            <a:ext cx="896112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770632"/>
            <a:ext cx="475488" cy="47548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16936"/>
            <a:ext cx="47548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23252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743200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Change assumptions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61488"/>
            <a:ext cx="6126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Adjust kWh and the unit rate in the bill calculator.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3310128"/>
            <a:ext cx="896112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685032"/>
            <a:ext cx="475488" cy="47548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31336"/>
            <a:ext cx="47548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23252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657600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Review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75887"/>
            <a:ext cx="6126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Walk through the forecast and unusual-usage alerts.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4224528"/>
            <a:ext cx="896112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599432"/>
            <a:ext cx="475488" cy="475488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45736"/>
            <a:ext cx="47548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23252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572000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32528"/>
                </a:solidFill>
                <a:latin typeface="Aptos"/>
              </a:defRPr>
            </a:pPr>
            <a:r>
              <a:t>Explain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90288"/>
            <a:ext cx="6126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5B5F64"/>
                </a:solidFill>
                <a:latin typeface="Aptos"/>
              </a:defRPr>
            </a:pPr>
            <a:r>
              <a:t>Connect each recommendation to its underlying rule.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5138928"/>
            <a:ext cx="896112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737360" y="5687568"/>
            <a:ext cx="8961120" cy="384048"/>
          </a:xfrm>
          <a:prstGeom prst="roundRect">
            <a:avLst>
              <a:gd name="adj" fmla="val 12000"/>
            </a:avLst>
          </a:prstGeom>
          <a:solidFill>
            <a:srgbClr val="FFF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5797296"/>
            <a:ext cx="8412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32528"/>
                </a:solidFill>
                <a:latin typeface="Aptos"/>
              </a:defRPr>
            </a:pPr>
            <a:r>
              <a:t>Demo principle: show the input, the output, and the assumption behind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109728" cy="219456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05  / 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232528"/>
                </a:solidFill>
                <a:latin typeface="Aptos Display"/>
              </a:defRPr>
            </a:pPr>
            <a:r>
              <a:t>Transparent assumptions. A practical roadmap.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27048"/>
            <a:ext cx="10863072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81360" cy="10972"/>
          </a:xfrm>
          <a:prstGeom prst="rect">
            <a:avLst/>
          </a:prstGeom>
          <a:solidFill>
            <a:srgbClr val="E8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9672"/>
            <a:ext cx="6858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5B5F64"/>
                </a:solidFill>
                <a:latin typeface="Aptos"/>
              </a:defRPr>
            </a:pPr>
            <a:r>
              <a:t>AI-POWERED ENERGY MONITORING  • 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07492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F5BE00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2688336"/>
            <a:ext cx="82296" cy="82296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2578608"/>
            <a:ext cx="41879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232528"/>
                </a:solidFill>
                <a:latin typeface="Aptos"/>
              </a:defRPr>
            </a:pPr>
            <a:r>
              <a:t>Readings are simulated, not live meter data.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291840"/>
            <a:ext cx="82296" cy="82296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182112"/>
            <a:ext cx="41879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232528"/>
                </a:solidFill>
                <a:latin typeface="Aptos"/>
              </a:defRPr>
            </a:pPr>
            <a:r>
              <a:t>Bill estimate uses a flat rate; excludes tariff slabs and fixed charges.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895344"/>
            <a:ext cx="82296" cy="82296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3785615"/>
            <a:ext cx="41879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232528"/>
                </a:solidFill>
                <a:latin typeface="Aptos"/>
              </a:defRPr>
            </a:pPr>
            <a:r>
              <a:t>Forecast is a prototype and has not been validated on real-world data.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498848"/>
            <a:ext cx="82296" cy="82296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4389120"/>
            <a:ext cx="41879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232528"/>
                </a:solidFill>
                <a:latin typeface="Aptos"/>
              </a:defRPr>
            </a:pPr>
            <a:r>
              <a:t>No energy savings are claimed without field evaluation.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10312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F5BE00"/>
                </a:solidFill>
                <a:latin typeface="Aptos"/>
              </a:defRPr>
            </a:pPr>
            <a:r>
              <a:t>NEXT MILESTONES</a:t>
            </a:r>
          </a:p>
        </p:txBody>
      </p:sp>
      <p:sp>
        <p:nvSpPr>
          <p:cNvPr id="21" name="Oval 20"/>
          <p:cNvSpPr/>
          <p:nvPr/>
        </p:nvSpPr>
        <p:spPr>
          <a:xfrm>
            <a:off x="6556248" y="2596896"/>
            <a:ext cx="310896" cy="310896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2688336"/>
            <a:ext cx="310896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78608"/>
            <a:ext cx="37490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232528"/>
                </a:solidFill>
                <a:latin typeface="Aptos"/>
              </a:defRPr>
            </a:pPr>
            <a:r>
              <a:t>Validate end-to-end MVP</a:t>
            </a:r>
          </a:p>
        </p:txBody>
      </p:sp>
      <p:sp>
        <p:nvSpPr>
          <p:cNvPr id="24" name="Oval 23"/>
          <p:cNvSpPr/>
          <p:nvPr/>
        </p:nvSpPr>
        <p:spPr>
          <a:xfrm>
            <a:off x="6556248" y="3236975"/>
            <a:ext cx="310896" cy="310896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3328415"/>
            <a:ext cx="310896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218687"/>
            <a:ext cx="37490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232528"/>
                </a:solidFill>
                <a:latin typeface="Aptos"/>
              </a:defRPr>
            </a:pPr>
            <a:r>
              <a:t>Add CSV import and SQLite</a:t>
            </a:r>
          </a:p>
        </p:txBody>
      </p:sp>
      <p:sp>
        <p:nvSpPr>
          <p:cNvPr id="27" name="Oval 26"/>
          <p:cNvSpPr/>
          <p:nvPr/>
        </p:nvSpPr>
        <p:spPr>
          <a:xfrm>
            <a:off x="6556248" y="3877055"/>
            <a:ext cx="310896" cy="310896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3968496"/>
            <a:ext cx="310896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858768"/>
            <a:ext cx="37490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232528"/>
                </a:solidFill>
                <a:latin typeface="Aptos"/>
              </a:defRPr>
            </a:pPr>
            <a:r>
              <a:t>Evaluate stronger forecast baselines</a:t>
            </a:r>
          </a:p>
        </p:txBody>
      </p:sp>
      <p:sp>
        <p:nvSpPr>
          <p:cNvPr id="30" name="Oval 29"/>
          <p:cNvSpPr/>
          <p:nvPr/>
        </p:nvSpPr>
        <p:spPr>
          <a:xfrm>
            <a:off x="6556248" y="4517136"/>
            <a:ext cx="310896" cy="310896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4608576"/>
            <a:ext cx="310896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23252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37490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232528"/>
                </a:solidFill>
                <a:latin typeface="Aptos"/>
              </a:defRPr>
            </a:pPr>
            <a:r>
              <a:t>Plan secure deployment and meter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22960" y="4251960"/>
            <a:ext cx="2926080" cy="2926080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4572000"/>
            <a:ext cx="2286000" cy="2286000"/>
          </a:xfrm>
          <a:prstGeom prst="ellipse">
            <a:avLst/>
          </a:prstGeom>
          <a:solidFill>
            <a:srgbClr val="F8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66928"/>
            <a:ext cx="658368" cy="658368"/>
          </a:xfrm>
          <a:prstGeom prst="ellipse">
            <a:avLst/>
          </a:prstGeom>
          <a:solidFill>
            <a:srgbClr val="23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577840"/>
            <a:ext cx="274320" cy="274320"/>
          </a:xfrm>
          <a:prstGeom prst="ellipse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31520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5B5F64"/>
                </a:solidFill>
                <a:latin typeface="Aptos"/>
              </a:defRPr>
            </a:pPr>
            <a:r>
              <a:t>AI ENERGY MONITORING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71323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 i="0">
                <a:solidFill>
                  <a:srgbClr val="232528"/>
                </a:solidFill>
                <a:latin typeface="Aptos Display"/>
              </a:defRPr>
            </a:pPr>
            <a:r>
              <a:t>Make energy use</a:t>
            </a:r>
            <a:br/>
            <a:r>
              <a:t>visible—and actionable.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6217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5B5F64"/>
                </a:solidFill>
                <a:latin typeface="Aptos"/>
              </a:defRPr>
            </a:pPr>
            <a:r>
              <a:t>A working software prototype demonstrating energy awareness, cost estimation, and explainable analytics.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34840"/>
            <a:ext cx="1280160" cy="54864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232528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080760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5B5F64"/>
                </a:solidFill>
                <a:latin typeface="Aptos"/>
              </a:defRPr>
            </a:pPr>
            <a:r>
              <a:t>MVP  /  SOFTWARE-FIRST  /  NO HARDWARE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